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0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4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97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5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2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2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2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4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240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63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2529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11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1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6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03DE-1ADB-4EB1-B5ED-FD9E9159030C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ACBA3D-53D8-4F61-8E41-83A14F35D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4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-data-analyst1729.streamlit.app/" TargetMode="External"/><Relationship Id="rId2" Type="http://schemas.openxmlformats.org/officeDocument/2006/relationships/hyperlink" Target="https://github.com/dv0331/Ai-Data-Analys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oom.com/share/f8beea7a15a94da2a611ad4199c6ee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5F8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C7477-7A7B-0015-03A1-793F6A496354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 dirty="0">
                <a:solidFill>
                  <a:srgbClr val="203864"/>
                </a:solidFill>
              </a:rPr>
              <a:t>Problem Understanding &amp;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E6753-1794-6A8A-9C04-6FBA5793D9AB}"/>
              </a:ext>
            </a:extLst>
          </p:cNvPr>
          <p:cNvSpPr txBox="1"/>
          <p:nvPr/>
        </p:nvSpPr>
        <p:spPr>
          <a:xfrm>
            <a:off x="508000" y="1206500"/>
            <a:ext cx="1117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dirty="0">
                <a:solidFill>
                  <a:srgbClr val="646464"/>
                </a:solidFill>
              </a:rPr>
              <a:t>Data-to-Insight AI Analyst | Automated Business Intelligence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101464-30B2-5A11-D804-969C2EDED5D9}"/>
              </a:ext>
            </a:extLst>
          </p:cNvPr>
          <p:cNvSpPr/>
          <p:nvPr/>
        </p:nvSpPr>
        <p:spPr>
          <a:xfrm>
            <a:off x="508000" y="1778000"/>
            <a:ext cx="5334000" cy="2667000"/>
          </a:xfrm>
          <a:prstGeom prst="roundRect">
            <a:avLst/>
          </a:prstGeom>
          <a:solidFill>
            <a:srgbClr val="F0F8FF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59507-78BB-0764-8C9E-B7F48EBB9698}"/>
              </a:ext>
            </a:extLst>
          </p:cNvPr>
          <p:cNvSpPr txBox="1"/>
          <p:nvPr/>
        </p:nvSpPr>
        <p:spPr>
          <a:xfrm>
            <a:off x="762000" y="19685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DB14B-92C2-F454-D2FD-EE7227C372CC}"/>
              </a:ext>
            </a:extLst>
          </p:cNvPr>
          <p:cNvSpPr txBox="1"/>
          <p:nvPr/>
        </p:nvSpPr>
        <p:spPr>
          <a:xfrm>
            <a:off x="762000" y="2349500"/>
            <a:ext cx="4826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dirty="0">
                <a:solidFill>
                  <a:srgbClr val="282828"/>
                </a:solidFill>
              </a:rPr>
              <a:t>• Mid-size retail client reviews weekly sales data manually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Hours spent detecting trends and performance issues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Manual process is slow, error-prone, and doesn't scale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No automated anomaly detection or recommendations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5224E1-661D-DD1E-D3F1-D3789A17BB4B}"/>
              </a:ext>
            </a:extLst>
          </p:cNvPr>
          <p:cNvSpPr/>
          <p:nvPr/>
        </p:nvSpPr>
        <p:spPr>
          <a:xfrm>
            <a:off x="6350000" y="1778000"/>
            <a:ext cx="5334000" cy="2667000"/>
          </a:xfrm>
          <a:prstGeom prst="roundRect">
            <a:avLst/>
          </a:prstGeom>
          <a:solidFill>
            <a:srgbClr val="F0FFF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82D7A-032E-68A9-D734-419CED3EAD02}"/>
              </a:ext>
            </a:extLst>
          </p:cNvPr>
          <p:cNvSpPr txBox="1"/>
          <p:nvPr/>
        </p:nvSpPr>
        <p:spPr>
          <a:xfrm>
            <a:off x="6604000" y="1968500"/>
            <a:ext cx="482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</a:rPr>
              <a:t>THE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DCEF4-EDCD-090B-56DD-ABF250118F8D}"/>
              </a:ext>
            </a:extLst>
          </p:cNvPr>
          <p:cNvSpPr txBox="1"/>
          <p:nvPr/>
        </p:nvSpPr>
        <p:spPr>
          <a:xfrm>
            <a:off x="6604000" y="2349500"/>
            <a:ext cx="4826000" cy="10926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dirty="0">
                <a:solidFill>
                  <a:srgbClr val="282828"/>
                </a:solidFill>
              </a:rPr>
              <a:t>• AI-powered 'Data Analyst' agent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Upload CSV/Excel ? get instant insights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Automatic trend detection (WoW changes)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Anomaly identification with context</a:t>
            </a:r>
          </a:p>
          <a:p>
            <a:r>
              <a:rPr lang="en-US" sz="1300" dirty="0">
                <a:solidFill>
                  <a:srgbClr val="282828"/>
                </a:solidFill>
              </a:rPr>
              <a:t>• Executive summary + prioritized 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D16EB8-383F-6EC4-F31B-44F9B9F188A0}"/>
              </a:ext>
            </a:extLst>
          </p:cNvPr>
          <p:cNvSpPr/>
          <p:nvPr/>
        </p:nvSpPr>
        <p:spPr>
          <a:xfrm>
            <a:off x="508000" y="4699000"/>
            <a:ext cx="11176000" cy="1143000"/>
          </a:xfrm>
          <a:prstGeom prst="round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C8828-7EA0-FD6C-4455-1B0F8DD42882}"/>
              </a:ext>
            </a:extLst>
          </p:cNvPr>
          <p:cNvSpPr txBox="1"/>
          <p:nvPr/>
        </p:nvSpPr>
        <p:spPr>
          <a:xfrm>
            <a:off x="762000" y="48895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OBJECTIVE: Build an AI Data Analyst that reads uploaded data, detects trends &amp; anomalies, and outputs a concise business summary + 2–3 recommended actions.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59F01-1AA4-4F5F-E523-075B7F38A5D8}"/>
              </a:ext>
            </a:extLst>
          </p:cNvPr>
          <p:cNvSpPr txBox="1"/>
          <p:nvPr/>
        </p:nvSpPr>
        <p:spPr>
          <a:xfrm>
            <a:off x="508000" y="60960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dirty="0">
                <a:solidFill>
                  <a:srgbClr val="828282"/>
                </a:solidFill>
              </a:rPr>
              <a:t>Tech Stack: Python | </a:t>
            </a:r>
            <a:r>
              <a:rPr lang="en-US" sz="1000" dirty="0" err="1">
                <a:solidFill>
                  <a:srgbClr val="828282"/>
                </a:solidFill>
              </a:rPr>
              <a:t>Streamlit</a:t>
            </a:r>
            <a:r>
              <a:rPr lang="en-US" sz="1000" dirty="0">
                <a:solidFill>
                  <a:srgbClr val="828282"/>
                </a:solidFill>
              </a:rPr>
              <a:t> | OpenAI | E2B</a:t>
            </a:r>
          </a:p>
        </p:txBody>
      </p:sp>
    </p:spTree>
    <p:extLst>
      <p:ext uri="{BB962C8B-B14F-4D97-AF65-F5344CB8AC3E}">
        <p14:creationId xmlns:p14="http://schemas.microsoft.com/office/powerpoint/2010/main" val="416261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5F8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AA105-C343-F658-7EC2-4894E15254EC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203864"/>
                </a:solidFill>
              </a:rPr>
              <a:t>Solution Architecture &amp; Design 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06E2D0-D188-C09C-0D64-A0AE7A272D46}"/>
              </a:ext>
            </a:extLst>
          </p:cNvPr>
          <p:cNvSpPr/>
          <p:nvPr/>
        </p:nvSpPr>
        <p:spPr>
          <a:xfrm>
            <a:off x="508000" y="1397000"/>
            <a:ext cx="1778000" cy="889000"/>
          </a:xfrm>
          <a:prstGeom prst="roundRect">
            <a:avLst/>
          </a:prstGeom>
          <a:solidFill>
            <a:srgbClr val="3498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0CBFF-272A-1CF6-6FFB-AB85DFC170DE}"/>
              </a:ext>
            </a:extLst>
          </p:cNvPr>
          <p:cNvSpPr txBox="1"/>
          <p:nvPr/>
        </p:nvSpPr>
        <p:spPr>
          <a:xfrm>
            <a:off x="571500" y="1498600"/>
            <a:ext cx="165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1. FILE UPLOAD</a:t>
            </a:r>
          </a:p>
          <a:p>
            <a:pPr algn="ctr"/>
            <a:r>
              <a:rPr lang="en-US" sz="1100" b="1">
                <a:solidFill>
                  <a:srgbClr val="FFFFFF"/>
                </a:solidFill>
              </a:rPr>
              <a:t>CSV / Excel / URL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43ED767-D41C-EA39-169F-C0DA5F97BB6A}"/>
              </a:ext>
            </a:extLst>
          </p:cNvPr>
          <p:cNvSpPr/>
          <p:nvPr/>
        </p:nvSpPr>
        <p:spPr>
          <a:xfrm>
            <a:off x="2349500" y="1651000"/>
            <a:ext cx="508000" cy="381000"/>
          </a:xfrm>
          <a:prstGeom prst="downArrow">
            <a:avLst/>
          </a:prstGeom>
          <a:solidFill>
            <a:srgbClr val="7878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BFCCFA-D914-3874-7003-8687B89CBFF4}"/>
              </a:ext>
            </a:extLst>
          </p:cNvPr>
          <p:cNvSpPr/>
          <p:nvPr/>
        </p:nvSpPr>
        <p:spPr>
          <a:xfrm>
            <a:off x="2921000" y="1397000"/>
            <a:ext cx="1778000" cy="889000"/>
          </a:xfrm>
          <a:prstGeom prst="roundRect">
            <a:avLst/>
          </a:prstGeom>
          <a:solidFill>
            <a:srgbClr val="9B59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4F819-BA41-B464-73AA-4931AE448D9E}"/>
              </a:ext>
            </a:extLst>
          </p:cNvPr>
          <p:cNvSpPr txBox="1"/>
          <p:nvPr/>
        </p:nvSpPr>
        <p:spPr>
          <a:xfrm>
            <a:off x="2984500" y="1498600"/>
            <a:ext cx="165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2. SCHEMA DETECT</a:t>
            </a:r>
          </a:p>
          <a:p>
            <a:pPr algn="ctr"/>
            <a:r>
              <a:rPr lang="en-US" sz="1100" b="1">
                <a:solidFill>
                  <a:srgbClr val="FFFFFF"/>
                </a:solidFill>
              </a:rPr>
              <a:t>Date / Metric / Groups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F9995E1-7793-496E-035A-AD9BEE2CE825}"/>
              </a:ext>
            </a:extLst>
          </p:cNvPr>
          <p:cNvSpPr/>
          <p:nvPr/>
        </p:nvSpPr>
        <p:spPr>
          <a:xfrm>
            <a:off x="4762500" y="1651000"/>
            <a:ext cx="508000" cy="381000"/>
          </a:xfrm>
          <a:prstGeom prst="downArrow">
            <a:avLst/>
          </a:prstGeom>
          <a:solidFill>
            <a:srgbClr val="7878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77FEAE-AF8B-8C96-B339-83F443C3D27D}"/>
              </a:ext>
            </a:extLst>
          </p:cNvPr>
          <p:cNvSpPr/>
          <p:nvPr/>
        </p:nvSpPr>
        <p:spPr>
          <a:xfrm>
            <a:off x="5334000" y="1397000"/>
            <a:ext cx="1778000" cy="889000"/>
          </a:xfrm>
          <a:prstGeom prst="round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5DE3D-E356-C21D-B8D4-6249C85B2FB8}"/>
              </a:ext>
            </a:extLst>
          </p:cNvPr>
          <p:cNvSpPr txBox="1"/>
          <p:nvPr/>
        </p:nvSpPr>
        <p:spPr>
          <a:xfrm>
            <a:off x="5397500" y="1498600"/>
            <a:ext cx="165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3. E2B SANDBOX</a:t>
            </a:r>
          </a:p>
          <a:p>
            <a:pPr algn="ctr"/>
            <a:r>
              <a:rPr lang="en-US" sz="1100" b="1">
                <a:solidFill>
                  <a:srgbClr val="FFFFFF"/>
                </a:solidFill>
              </a:rPr>
              <a:t>Secure Execution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6EBF30F-8988-EB30-B3B2-2836C648C55C}"/>
              </a:ext>
            </a:extLst>
          </p:cNvPr>
          <p:cNvSpPr/>
          <p:nvPr/>
        </p:nvSpPr>
        <p:spPr>
          <a:xfrm>
            <a:off x="7175500" y="1651000"/>
            <a:ext cx="508000" cy="381000"/>
          </a:xfrm>
          <a:prstGeom prst="downArrow">
            <a:avLst/>
          </a:prstGeom>
          <a:solidFill>
            <a:srgbClr val="7878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7E4FEA-E05E-2492-0651-55DE61AAEB90}"/>
              </a:ext>
            </a:extLst>
          </p:cNvPr>
          <p:cNvSpPr/>
          <p:nvPr/>
        </p:nvSpPr>
        <p:spPr>
          <a:xfrm>
            <a:off x="7747000" y="1397000"/>
            <a:ext cx="1778000" cy="889000"/>
          </a:xfrm>
          <a:prstGeom prst="roundRect">
            <a:avLst/>
          </a:prstGeom>
          <a:solidFill>
            <a:srgbClr val="2ECC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48F5B-EEC1-8863-3659-18A29221BC6C}"/>
              </a:ext>
            </a:extLst>
          </p:cNvPr>
          <p:cNvSpPr txBox="1"/>
          <p:nvPr/>
        </p:nvSpPr>
        <p:spPr>
          <a:xfrm>
            <a:off x="7810500" y="1498600"/>
            <a:ext cx="165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4. ANALYSIS</a:t>
            </a:r>
          </a:p>
          <a:p>
            <a:pPr algn="ctr"/>
            <a:r>
              <a:rPr lang="en-US" sz="1100" b="1">
                <a:solidFill>
                  <a:srgbClr val="FFFFFF"/>
                </a:solidFill>
              </a:rPr>
              <a:t>Pandas + Stats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C8B11A0-7292-F39E-E8D1-2E4ED7979641}"/>
              </a:ext>
            </a:extLst>
          </p:cNvPr>
          <p:cNvSpPr/>
          <p:nvPr/>
        </p:nvSpPr>
        <p:spPr>
          <a:xfrm>
            <a:off x="9588500" y="1651000"/>
            <a:ext cx="508000" cy="381000"/>
          </a:xfrm>
          <a:prstGeom prst="downArrow">
            <a:avLst/>
          </a:prstGeom>
          <a:solidFill>
            <a:srgbClr val="7878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13B817-92B1-E6BD-265E-7C42A511FAA8}"/>
              </a:ext>
            </a:extLst>
          </p:cNvPr>
          <p:cNvSpPr/>
          <p:nvPr/>
        </p:nvSpPr>
        <p:spPr>
          <a:xfrm>
            <a:off x="10160000" y="1397000"/>
            <a:ext cx="1524000" cy="889000"/>
          </a:xfrm>
          <a:prstGeom prst="roundRect">
            <a:avLst/>
          </a:prstGeom>
          <a:solidFill>
            <a:srgbClr val="00A67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219E2-17A6-1571-2EE6-A3882502C1D3}"/>
              </a:ext>
            </a:extLst>
          </p:cNvPr>
          <p:cNvSpPr txBox="1"/>
          <p:nvPr/>
        </p:nvSpPr>
        <p:spPr>
          <a:xfrm>
            <a:off x="10223500" y="1498600"/>
            <a:ext cx="1397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5. OPENAI</a:t>
            </a:r>
          </a:p>
          <a:p>
            <a:pPr algn="ctr"/>
            <a:r>
              <a:rPr lang="en-US" sz="1100" b="1">
                <a:solidFill>
                  <a:srgbClr val="FFFFFF"/>
                </a:solidFill>
              </a:rPr>
              <a:t>GPT + Vision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3BE9D-43EA-23F5-3716-E8FF849954A5}"/>
              </a:ext>
            </a:extLst>
          </p:cNvPr>
          <p:cNvSpPr txBox="1"/>
          <p:nvPr/>
        </p:nvSpPr>
        <p:spPr>
          <a:xfrm>
            <a:off x="508000" y="26035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203864"/>
                </a:solidFill>
              </a:rPr>
              <a:t>OUTPUT COMPONENTS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DF7A66-3B6C-ECF0-A55D-11B7323BED83}"/>
              </a:ext>
            </a:extLst>
          </p:cNvPr>
          <p:cNvSpPr/>
          <p:nvPr/>
        </p:nvSpPr>
        <p:spPr>
          <a:xfrm>
            <a:off x="508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5FB02E-4DF7-8EBD-14F7-1E6190BD22D3}"/>
              </a:ext>
            </a:extLst>
          </p:cNvPr>
          <p:cNvSpPr txBox="1"/>
          <p:nvPr/>
        </p:nvSpPr>
        <p:spPr>
          <a:xfrm>
            <a:off x="571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Executive Summary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134C2FF-C438-3AFE-69E8-717EFADAD055}"/>
              </a:ext>
            </a:extLst>
          </p:cNvPr>
          <p:cNvSpPr/>
          <p:nvPr/>
        </p:nvSpPr>
        <p:spPr>
          <a:xfrm>
            <a:off x="2413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442CB7-0490-68D6-D241-77291B2A3DC1}"/>
              </a:ext>
            </a:extLst>
          </p:cNvPr>
          <p:cNvSpPr txBox="1"/>
          <p:nvPr/>
        </p:nvSpPr>
        <p:spPr>
          <a:xfrm>
            <a:off x="2476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Metrics Dashboard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024EBB-05EF-BC79-1381-649F272274E5}"/>
              </a:ext>
            </a:extLst>
          </p:cNvPr>
          <p:cNvSpPr/>
          <p:nvPr/>
        </p:nvSpPr>
        <p:spPr>
          <a:xfrm>
            <a:off x="4318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CC8011-BF59-0774-0106-80AF6DB15ED2}"/>
              </a:ext>
            </a:extLst>
          </p:cNvPr>
          <p:cNvSpPr txBox="1"/>
          <p:nvPr/>
        </p:nvSpPr>
        <p:spPr>
          <a:xfrm>
            <a:off x="4381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Trend Charts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506834-8DEE-0E58-293F-32BDB0E6D43B}"/>
              </a:ext>
            </a:extLst>
          </p:cNvPr>
          <p:cNvSpPr/>
          <p:nvPr/>
        </p:nvSpPr>
        <p:spPr>
          <a:xfrm>
            <a:off x="6223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8991BC-616A-480B-4028-073F251E876B}"/>
              </a:ext>
            </a:extLst>
          </p:cNvPr>
          <p:cNvSpPr txBox="1"/>
          <p:nvPr/>
        </p:nvSpPr>
        <p:spPr>
          <a:xfrm>
            <a:off x="6286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AI Chart Analysis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D8CE9E-FC18-F141-CF38-7502E21C37C8}"/>
              </a:ext>
            </a:extLst>
          </p:cNvPr>
          <p:cNvSpPr/>
          <p:nvPr/>
        </p:nvSpPr>
        <p:spPr>
          <a:xfrm>
            <a:off x="8128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6E57F-42D2-A54D-D0B3-480C48B5D3AA}"/>
              </a:ext>
            </a:extLst>
          </p:cNvPr>
          <p:cNvSpPr txBox="1"/>
          <p:nvPr/>
        </p:nvSpPr>
        <p:spPr>
          <a:xfrm>
            <a:off x="8191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Next Actions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6D60AE7-EB3F-F66D-B506-518E889E18AF}"/>
              </a:ext>
            </a:extLst>
          </p:cNvPr>
          <p:cNvSpPr/>
          <p:nvPr/>
        </p:nvSpPr>
        <p:spPr>
          <a:xfrm>
            <a:off x="10033000" y="2984500"/>
            <a:ext cx="1714500" cy="635000"/>
          </a:xfrm>
          <a:prstGeom prst="roundRect">
            <a:avLst/>
          </a:prstGeom>
          <a:solidFill>
            <a:srgbClr val="F5F5F5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35DBEE-38E1-BF79-3669-4C227619399C}"/>
              </a:ext>
            </a:extLst>
          </p:cNvPr>
          <p:cNvSpPr txBox="1"/>
          <p:nvPr/>
        </p:nvSpPr>
        <p:spPr>
          <a:xfrm>
            <a:off x="10096500" y="3111500"/>
            <a:ext cx="1587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/>
              <a:t>Chat Interface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724EDC-F1A7-4F0B-31A8-722FD2526251}"/>
              </a:ext>
            </a:extLst>
          </p:cNvPr>
          <p:cNvSpPr/>
          <p:nvPr/>
        </p:nvSpPr>
        <p:spPr>
          <a:xfrm>
            <a:off x="508000" y="3873500"/>
            <a:ext cx="11176000" cy="190500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6AA4F5-3EA1-BCF8-0B62-837BE08DACDF}"/>
              </a:ext>
            </a:extLst>
          </p:cNvPr>
          <p:cNvSpPr txBox="1"/>
          <p:nvPr/>
        </p:nvSpPr>
        <p:spPr>
          <a:xfrm>
            <a:off x="762000" y="4000500"/>
            <a:ext cx="10668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323232"/>
                </a:solidFill>
              </a:rPr>
              <a:t>DATA FLOW:</a:t>
            </a:r>
          </a:p>
          <a:p>
            <a:r>
              <a:rPr lang="en-US" sz="1200">
                <a:solidFill>
                  <a:srgbClr val="323232"/>
                </a:solidFill>
              </a:rPr>
              <a:t>1) Upload ? execute securely in E2B sandbox (data not sent to LLM directly)</a:t>
            </a:r>
          </a:p>
          <a:p>
            <a:r>
              <a:rPr lang="en-US" sz="1200">
                <a:solidFill>
                  <a:srgbClr val="323232"/>
                </a:solidFill>
              </a:rPr>
              <a:t>2) Auto-detect schema (dates, metrics, segments)</a:t>
            </a:r>
          </a:p>
          <a:p>
            <a:r>
              <a:rPr lang="en-US" sz="1200">
                <a:solidFill>
                  <a:srgbClr val="323232"/>
                </a:solidFill>
              </a:rPr>
              <a:t>3) Weekly aggregation ? WoW ? trend slope ? anomalies</a:t>
            </a:r>
          </a:p>
          <a:p>
            <a:r>
              <a:rPr lang="en-US" sz="1200">
                <a:solidFill>
                  <a:srgbClr val="323232"/>
                </a:solidFill>
              </a:rPr>
              <a:t>4) Charts ? vision analysis ? natural-language explanation</a:t>
            </a:r>
          </a:p>
          <a:p>
            <a:r>
              <a:rPr lang="en-US" sz="1200">
                <a:solidFill>
                  <a:srgbClr val="323232"/>
                </a:solidFill>
              </a:rPr>
              <a:t>5) Output JSON: summary, insights, recommendations, next actions</a:t>
            </a:r>
          </a:p>
        </p:txBody>
      </p:sp>
    </p:spTree>
    <p:extLst>
      <p:ext uri="{BB962C8B-B14F-4D97-AF65-F5344CB8AC3E}">
        <p14:creationId xmlns:p14="http://schemas.microsoft.com/office/powerpoint/2010/main" val="253008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5F8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9082F-2287-9C8E-2F32-2EB6D7D21DE6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203864"/>
                </a:solidFill>
              </a:rPr>
              <a:t>Implementation Highlights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167BF4-E7B4-56AB-449E-BEEB7AB9C78C}"/>
              </a:ext>
            </a:extLst>
          </p:cNvPr>
          <p:cNvSpPr/>
          <p:nvPr/>
        </p:nvSpPr>
        <p:spPr>
          <a:xfrm>
            <a:off x="508000" y="1397000"/>
            <a:ext cx="3683000" cy="4191000"/>
          </a:xfrm>
          <a:prstGeom prst="roundRect">
            <a:avLst/>
          </a:prstGeom>
          <a:solidFill>
            <a:srgbClr val="F0F8FF"/>
          </a:solidFill>
          <a:ln>
            <a:solidFill>
              <a:srgbClr val="3498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6C5CA-2F4F-EC12-A3B1-5D71A7BA0709}"/>
              </a:ext>
            </a:extLst>
          </p:cNvPr>
          <p:cNvSpPr txBox="1"/>
          <p:nvPr/>
        </p:nvSpPr>
        <p:spPr>
          <a:xfrm>
            <a:off x="698500" y="1587500"/>
            <a:ext cx="3302000" cy="14927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/>
              <a:t>TECH STACK</a:t>
            </a:r>
          </a:p>
          <a:p>
            <a:endParaRPr lang="en-US" sz="1300"/>
          </a:p>
          <a:p>
            <a:r>
              <a:rPr lang="en-US" sz="1300"/>
              <a:t>• Streamlit UI</a:t>
            </a:r>
          </a:p>
          <a:p>
            <a:r>
              <a:rPr lang="en-US" sz="1300"/>
              <a:t>• Pandas/NumPy data</a:t>
            </a:r>
          </a:p>
          <a:p>
            <a:r>
              <a:rPr lang="en-US" sz="1300"/>
              <a:t>• Matplotlib charts</a:t>
            </a:r>
          </a:p>
          <a:p>
            <a:r>
              <a:rPr lang="en-US" sz="1300"/>
              <a:t>• OpenAI reasoning</a:t>
            </a:r>
          </a:p>
          <a:p>
            <a:r>
              <a:rPr lang="en-US" sz="1300"/>
              <a:t>• E2B secure sandbox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6D126B-123B-5B90-F22B-A859A92A1514}"/>
              </a:ext>
            </a:extLst>
          </p:cNvPr>
          <p:cNvSpPr/>
          <p:nvPr/>
        </p:nvSpPr>
        <p:spPr>
          <a:xfrm>
            <a:off x="4381500" y="1397000"/>
            <a:ext cx="3683000" cy="4191000"/>
          </a:xfrm>
          <a:prstGeom prst="roundRect">
            <a:avLst/>
          </a:prstGeom>
          <a:solidFill>
            <a:srgbClr val="F0FFF0"/>
          </a:solidFill>
          <a:ln>
            <a:solidFill>
              <a:srgbClr val="2ECC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81640-A7C5-3238-9ADA-027386EA7F49}"/>
              </a:ext>
            </a:extLst>
          </p:cNvPr>
          <p:cNvSpPr txBox="1"/>
          <p:nvPr/>
        </p:nvSpPr>
        <p:spPr>
          <a:xfrm>
            <a:off x="4572000" y="1587500"/>
            <a:ext cx="3302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/>
              <a:t>AI LOGIC</a:t>
            </a:r>
          </a:p>
          <a:p>
            <a:endParaRPr lang="en-US" sz="1300"/>
          </a:p>
          <a:p>
            <a:r>
              <a:rPr lang="en-US" sz="1300"/>
              <a:t>Modes:</a:t>
            </a:r>
          </a:p>
          <a:p>
            <a:r>
              <a:rPr lang="en-US" sz="1300"/>
              <a:t>• Basic (trends + WoW + anomalies)</a:t>
            </a:r>
          </a:p>
          <a:p>
            <a:r>
              <a:rPr lang="en-US" sz="1300"/>
              <a:t>• Deep (segment patterns)</a:t>
            </a:r>
          </a:p>
          <a:p>
            <a:r>
              <a:rPr lang="en-US" sz="1300"/>
              <a:t>• Two-phase (combined)</a:t>
            </a:r>
          </a:p>
          <a:p>
            <a:endParaRPr lang="en-US" sz="1300"/>
          </a:p>
          <a:p>
            <a:r>
              <a:rPr lang="en-US" sz="1300"/>
              <a:t>Plus: vision reads charts to explain patterns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6F08E6-8B0D-4E5E-1AD4-23FD63FE7DCC}"/>
              </a:ext>
            </a:extLst>
          </p:cNvPr>
          <p:cNvSpPr/>
          <p:nvPr/>
        </p:nvSpPr>
        <p:spPr>
          <a:xfrm>
            <a:off x="8255000" y="1397000"/>
            <a:ext cx="3429000" cy="4191000"/>
          </a:xfrm>
          <a:prstGeom prst="round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69593-0475-3F7B-73A7-D5B2AE2E600B}"/>
              </a:ext>
            </a:extLst>
          </p:cNvPr>
          <p:cNvSpPr txBox="1"/>
          <p:nvPr/>
        </p:nvSpPr>
        <p:spPr>
          <a:xfrm>
            <a:off x="8445500" y="1587500"/>
            <a:ext cx="304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# Key Pattern</a:t>
            </a:r>
          </a:p>
          <a:p>
            <a:endParaRPr lang="en-US" sz="100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date_cols = [c for c in cols if 'date' in c.lower()]</a:t>
            </a:r>
          </a:p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weekly = df.groupby('week')[metric].sum()</a:t>
            </a:r>
          </a:p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wow = weekly.pct_change()</a:t>
            </a:r>
          </a:p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anoms = abs(zscore(weekly)) &gt;= 2.5</a:t>
            </a:r>
          </a:p>
          <a:p>
            <a:r>
              <a:rPr lang="en-US" sz="1000">
                <a:solidFill>
                  <a:srgbClr val="ABB2BF"/>
                </a:solidFill>
                <a:latin typeface="Consolas" panose="020B0609020204030204" pitchFamily="49" charset="0"/>
              </a:rPr>
              <a:t>vision = gpt.analyze(chart_image)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9764A-C88E-FDA4-2C8C-1FC89E3008A9}"/>
              </a:ext>
            </a:extLst>
          </p:cNvPr>
          <p:cNvSpPr txBox="1"/>
          <p:nvPr/>
        </p:nvSpPr>
        <p:spPr>
          <a:xfrm>
            <a:off x="508000" y="5842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03864"/>
                </a:solidFill>
              </a:rPr>
              <a:t>Highlight: Cached results per mode (switching modes doesn't re-run analysis if data unchanged).</a:t>
            </a:r>
          </a:p>
        </p:txBody>
      </p:sp>
    </p:spTree>
    <p:extLst>
      <p:ext uri="{BB962C8B-B14F-4D97-AF65-F5344CB8AC3E}">
        <p14:creationId xmlns:p14="http://schemas.microsoft.com/office/powerpoint/2010/main" val="419674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5F8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8EA3D-A979-F0C7-0BF8-183946B9AF62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203864"/>
                </a:solidFill>
              </a:rPr>
              <a:t>Challenges &amp; Learnings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009571-0B04-099F-E557-AD9F95BBF94E}"/>
              </a:ext>
            </a:extLst>
          </p:cNvPr>
          <p:cNvSpPr/>
          <p:nvPr/>
        </p:nvSpPr>
        <p:spPr>
          <a:xfrm>
            <a:off x="508000" y="1397000"/>
            <a:ext cx="5461000" cy="1270000"/>
          </a:xfrm>
          <a:prstGeom prst="roundRect">
            <a:avLst/>
          </a:prstGeom>
          <a:solidFill>
            <a:srgbClr val="FFF5EE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B20B4-C7A4-F75D-8F2E-F25DB81A9BFC}"/>
              </a:ext>
            </a:extLst>
          </p:cNvPr>
          <p:cNvSpPr txBox="1"/>
          <p:nvPr/>
        </p:nvSpPr>
        <p:spPr>
          <a:xfrm>
            <a:off x="660400" y="1524000"/>
            <a:ext cx="5143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82828"/>
                </a:solidFill>
              </a:rPr>
              <a:t>CHALLENGE 1: Binary File Handling</a:t>
            </a:r>
          </a:p>
          <a:p>
            <a:r>
              <a:rPr lang="en-US" sz="1200">
                <a:solidFill>
                  <a:srgbClr val="282828"/>
                </a:solidFill>
              </a:rPr>
              <a:t>Problem: Sandbox PNG output can corrupt</a:t>
            </a:r>
          </a:p>
          <a:p>
            <a:r>
              <a:rPr lang="en-US" sz="1200">
                <a:solidFill>
                  <a:srgbClr val="008000"/>
                </a:solidFill>
              </a:rPr>
              <a:t>Fix: Base64 encode/decode + fallbacks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FC9633-8558-6AFB-9DB8-AD11E0554D4D}"/>
              </a:ext>
            </a:extLst>
          </p:cNvPr>
          <p:cNvSpPr/>
          <p:nvPr/>
        </p:nvSpPr>
        <p:spPr>
          <a:xfrm>
            <a:off x="6223000" y="1397000"/>
            <a:ext cx="5461000" cy="1270000"/>
          </a:xfrm>
          <a:prstGeom prst="roundRect">
            <a:avLst/>
          </a:prstGeom>
          <a:solidFill>
            <a:srgbClr val="FFF5EE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B6C9C-52BA-6A01-629F-9DD803547484}"/>
              </a:ext>
            </a:extLst>
          </p:cNvPr>
          <p:cNvSpPr txBox="1"/>
          <p:nvPr/>
        </p:nvSpPr>
        <p:spPr>
          <a:xfrm>
            <a:off x="6375400" y="1524000"/>
            <a:ext cx="5143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82828"/>
                </a:solidFill>
              </a:rPr>
              <a:t>CHALLENGE 2: LLM Output Consistency</a:t>
            </a:r>
          </a:p>
          <a:p>
            <a:r>
              <a:rPr lang="en-US" sz="1200">
                <a:solidFill>
                  <a:srgbClr val="282828"/>
                </a:solidFill>
              </a:rPr>
              <a:t>Problem: Occasional malformed JSON</a:t>
            </a:r>
          </a:p>
          <a:p>
            <a:r>
              <a:rPr lang="en-US" sz="1200">
                <a:solidFill>
                  <a:srgbClr val="008000"/>
                </a:solidFill>
              </a:rPr>
              <a:t>Fix: Strict schema + validation + retries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7D5D3B-CAE1-4D19-0F7F-1AA342AF4869}"/>
              </a:ext>
            </a:extLst>
          </p:cNvPr>
          <p:cNvSpPr/>
          <p:nvPr/>
        </p:nvSpPr>
        <p:spPr>
          <a:xfrm>
            <a:off x="508000" y="2921000"/>
            <a:ext cx="5461000" cy="1270000"/>
          </a:xfrm>
          <a:prstGeom prst="roundRect">
            <a:avLst/>
          </a:prstGeom>
          <a:solidFill>
            <a:srgbClr val="FFF5EE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D66A3-A883-C034-ACDD-6063DF47C82E}"/>
              </a:ext>
            </a:extLst>
          </p:cNvPr>
          <p:cNvSpPr txBox="1"/>
          <p:nvPr/>
        </p:nvSpPr>
        <p:spPr>
          <a:xfrm>
            <a:off x="660400" y="3048000"/>
            <a:ext cx="5143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82828"/>
                </a:solidFill>
              </a:rPr>
              <a:t>CHALLENGE 3: Schema Inference</a:t>
            </a:r>
          </a:p>
          <a:p>
            <a:r>
              <a:rPr lang="en-US" sz="1200">
                <a:solidFill>
                  <a:srgbClr val="282828"/>
                </a:solidFill>
              </a:rPr>
              <a:t>Problem: Messy columns &amp; mixed types</a:t>
            </a:r>
          </a:p>
          <a:p>
            <a:r>
              <a:rPr lang="en-US" sz="1200">
                <a:solidFill>
                  <a:srgbClr val="008000"/>
                </a:solidFill>
              </a:rPr>
              <a:t>Fix: sanitize + robust detection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328F5-B883-1FEC-4568-A80653E29E07}"/>
              </a:ext>
            </a:extLst>
          </p:cNvPr>
          <p:cNvSpPr/>
          <p:nvPr/>
        </p:nvSpPr>
        <p:spPr>
          <a:xfrm>
            <a:off x="6223000" y="2921000"/>
            <a:ext cx="5461000" cy="1270000"/>
          </a:xfrm>
          <a:prstGeom prst="roundRect">
            <a:avLst/>
          </a:prstGeom>
          <a:solidFill>
            <a:srgbClr val="FFF5EE"/>
          </a:solidFill>
          <a:ln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E058C-5C9C-3DF1-4214-BD9E2977A867}"/>
              </a:ext>
            </a:extLst>
          </p:cNvPr>
          <p:cNvSpPr txBox="1"/>
          <p:nvPr/>
        </p:nvSpPr>
        <p:spPr>
          <a:xfrm>
            <a:off x="6375400" y="3048000"/>
            <a:ext cx="5143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282828"/>
                </a:solidFill>
              </a:rPr>
              <a:t>CHALLENGE 4: State Management</a:t>
            </a:r>
          </a:p>
          <a:p>
            <a:r>
              <a:rPr lang="en-US" sz="1200">
                <a:solidFill>
                  <a:srgbClr val="282828"/>
                </a:solidFill>
              </a:rPr>
              <a:t>Problem: Streamlit reruns frequently</a:t>
            </a:r>
          </a:p>
          <a:p>
            <a:r>
              <a:rPr lang="en-US" sz="1200">
                <a:solidFill>
                  <a:srgbClr val="008000"/>
                </a:solidFill>
              </a:rPr>
              <a:t>Fix: session_state caching per mode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784328-3B84-2EFD-5380-B96360D775CF}"/>
              </a:ext>
            </a:extLst>
          </p:cNvPr>
          <p:cNvSpPr/>
          <p:nvPr/>
        </p:nvSpPr>
        <p:spPr>
          <a:xfrm>
            <a:off x="508000" y="4572000"/>
            <a:ext cx="11176000" cy="1524000"/>
          </a:xfrm>
          <a:prstGeom prst="roundRect">
            <a:avLst/>
          </a:prstGeom>
          <a:solidFill>
            <a:srgbClr val="F0F8FF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138C0F-0892-D4DC-2F6A-78122B9DFDD1}"/>
              </a:ext>
            </a:extLst>
          </p:cNvPr>
          <p:cNvSpPr txBox="1"/>
          <p:nvPr/>
        </p:nvSpPr>
        <p:spPr>
          <a:xfrm>
            <a:off x="762000" y="4762500"/>
            <a:ext cx="10668000" cy="10926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282828"/>
                </a:solidFill>
              </a:rPr>
              <a:t>KEY TAKEAWAYS</a:t>
            </a:r>
          </a:p>
          <a:p>
            <a:r>
              <a:rPr lang="en-US" sz="1300">
                <a:solidFill>
                  <a:srgbClr val="282828"/>
                </a:solidFill>
              </a:rPr>
              <a:t>• Secure sandboxing is worth it—handle binary carefully</a:t>
            </a:r>
          </a:p>
          <a:p>
            <a:r>
              <a:rPr lang="en-US" sz="1300">
                <a:solidFill>
                  <a:srgbClr val="282828"/>
                </a:solidFill>
              </a:rPr>
              <a:t>• Vision adds real insight beyond code-only analysis</a:t>
            </a:r>
          </a:p>
          <a:p>
            <a:r>
              <a:rPr lang="en-US" sz="1300">
                <a:solidFill>
                  <a:srgbClr val="282828"/>
                </a:solidFill>
              </a:rPr>
              <a:t>• Strict output structure improves reliability</a:t>
            </a:r>
          </a:p>
          <a:p>
            <a:r>
              <a:rPr lang="en-US" sz="1300">
                <a:solidFill>
                  <a:srgbClr val="282828"/>
                </a:solidFill>
              </a:rPr>
              <a:t>• Caching saves cost and makes UX fast</a:t>
            </a:r>
          </a:p>
        </p:txBody>
      </p:sp>
    </p:spTree>
    <p:extLst>
      <p:ext uri="{BB962C8B-B14F-4D97-AF65-F5344CB8AC3E}">
        <p14:creationId xmlns:p14="http://schemas.microsoft.com/office/powerpoint/2010/main" val="173376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5F8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E6D1D-4E63-A839-C87B-7BB4D30F824D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203864"/>
                </a:solidFill>
              </a:rPr>
              <a:t>Demo Summary &amp; Next Steps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74CA6E-1AD4-93BE-D851-928959D60434}"/>
              </a:ext>
            </a:extLst>
          </p:cNvPr>
          <p:cNvSpPr/>
          <p:nvPr/>
        </p:nvSpPr>
        <p:spPr>
          <a:xfrm>
            <a:off x="508000" y="1397000"/>
            <a:ext cx="5461000" cy="2794000"/>
          </a:xfrm>
          <a:prstGeom prst="roundRect">
            <a:avLst/>
          </a:prstGeom>
          <a:solidFill>
            <a:srgbClr val="F0FFF0"/>
          </a:solidFill>
          <a:ln>
            <a:solidFill>
              <a:srgbClr val="2ECC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93366-B323-1722-682A-0852FF87A134}"/>
              </a:ext>
            </a:extLst>
          </p:cNvPr>
          <p:cNvSpPr txBox="1"/>
          <p:nvPr/>
        </p:nvSpPr>
        <p:spPr>
          <a:xfrm>
            <a:off x="762000" y="1587500"/>
            <a:ext cx="4953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8000"/>
                </a:solidFill>
              </a:rPr>
              <a:t>DELIVERED</a:t>
            </a:r>
          </a:p>
          <a:p>
            <a:endParaRPr lang="en-US" sz="1300"/>
          </a:p>
          <a:p>
            <a:r>
              <a:rPr lang="en-US" sz="1300"/>
              <a:t>• File/URL upload</a:t>
            </a:r>
          </a:p>
          <a:p>
            <a:r>
              <a:rPr lang="en-US" sz="1300"/>
              <a:t>• Auto schema detection</a:t>
            </a:r>
          </a:p>
          <a:p>
            <a:r>
              <a:rPr lang="en-US" sz="1300"/>
              <a:t>• Trends + WoW + anomalies</a:t>
            </a:r>
          </a:p>
          <a:p>
            <a:r>
              <a:rPr lang="en-US" sz="1300"/>
              <a:t>• Vision chart analysis</a:t>
            </a:r>
          </a:p>
          <a:p>
            <a:r>
              <a:rPr lang="en-US" sz="1300"/>
              <a:t>• Exec summary + actions</a:t>
            </a:r>
          </a:p>
          <a:p>
            <a:r>
              <a:rPr lang="en-US" sz="1300"/>
              <a:t>• Chat interface + caching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8FFCCD-E6D0-BAB7-A746-BFF813619042}"/>
              </a:ext>
            </a:extLst>
          </p:cNvPr>
          <p:cNvSpPr/>
          <p:nvPr/>
        </p:nvSpPr>
        <p:spPr>
          <a:xfrm>
            <a:off x="6223000" y="1397000"/>
            <a:ext cx="5461000" cy="2794000"/>
          </a:xfrm>
          <a:prstGeom prst="roundRect">
            <a:avLst/>
          </a:prstGeom>
          <a:solidFill>
            <a:srgbClr val="F0F8FF"/>
          </a:solidFill>
          <a:ln>
            <a:solidFill>
              <a:srgbClr val="3498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973DB-630E-C770-B5A5-822FEA1E1037}"/>
              </a:ext>
            </a:extLst>
          </p:cNvPr>
          <p:cNvSpPr txBox="1"/>
          <p:nvPr/>
        </p:nvSpPr>
        <p:spPr>
          <a:xfrm>
            <a:off x="6477000" y="1587500"/>
            <a:ext cx="4953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3498DB"/>
                </a:solidFill>
              </a:rPr>
              <a:t>NEXT</a:t>
            </a:r>
          </a:p>
          <a:p>
            <a:endParaRPr lang="en-US" sz="1300"/>
          </a:p>
          <a:p>
            <a:r>
              <a:rPr lang="en-US" sz="1300"/>
              <a:t>• Multi-file comparison</a:t>
            </a:r>
          </a:p>
          <a:p>
            <a:r>
              <a:rPr lang="en-US" sz="1300"/>
              <a:t>• Scheduled reports</a:t>
            </a:r>
          </a:p>
          <a:p>
            <a:r>
              <a:rPr lang="en-US" sz="1300"/>
              <a:t>• User-editable prompts</a:t>
            </a:r>
          </a:p>
          <a:p>
            <a:r>
              <a:rPr lang="en-US" sz="1300"/>
              <a:t>• One-click PDF export</a:t>
            </a:r>
          </a:p>
          <a:p>
            <a:r>
              <a:rPr lang="en-US" sz="1300"/>
              <a:t>• SQL/DB connectors</a:t>
            </a:r>
          </a:p>
          <a:p>
            <a:r>
              <a:rPr lang="en-US" sz="1300"/>
              <a:t>• Slack/Teams alerts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B4FADD-66FC-1104-E553-6F65E580D82C}"/>
              </a:ext>
            </a:extLst>
          </p:cNvPr>
          <p:cNvSpPr/>
          <p:nvPr/>
        </p:nvSpPr>
        <p:spPr>
          <a:xfrm>
            <a:off x="508000" y="4445000"/>
            <a:ext cx="11176000" cy="1016000"/>
          </a:xfrm>
          <a:prstGeom prst="roundRect">
            <a:avLst/>
          </a:prstGeom>
          <a:solidFill>
            <a:srgbClr val="20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E2F03-F858-2C98-803F-D2A9DD4DC24E}"/>
              </a:ext>
            </a:extLst>
          </p:cNvPr>
          <p:cNvSpPr txBox="1"/>
          <p:nvPr/>
        </p:nvSpPr>
        <p:spPr>
          <a:xfrm>
            <a:off x="762000" y="4635500"/>
            <a:ext cx="10668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LINKS</a:t>
            </a:r>
          </a:p>
          <a:p>
            <a:r>
              <a:rPr lang="en-US" sz="1400" dirty="0">
                <a:solidFill>
                  <a:srgbClr val="FFFFFF"/>
                </a:solidFill>
              </a:rPr>
              <a:t>GitHub: </a:t>
            </a:r>
            <a:r>
              <a:rPr lang="en-US" sz="1400" dirty="0">
                <a:solidFill>
                  <a:srgbClr val="FFFFFF"/>
                </a:solidFill>
                <a:hlinkClick r:id="rId2"/>
              </a:rPr>
              <a:t>github.com/dv0331/Ai-Data-Analyst </a:t>
            </a:r>
            <a:r>
              <a:rPr lang="en-US" sz="1400" dirty="0">
                <a:solidFill>
                  <a:srgbClr val="FFFFFF"/>
                </a:solidFill>
              </a:rPr>
              <a:t>| Live Demo: [</a:t>
            </a:r>
            <a:r>
              <a:rPr lang="en-US" sz="1400" dirty="0">
                <a:solidFill>
                  <a:srgbClr val="FFFFFF"/>
                </a:solidFill>
                <a:hlinkClick r:id="rId3"/>
              </a:rPr>
              <a:t>https://ai-data-analyst1729.streamlit.app/] </a:t>
            </a:r>
            <a:r>
              <a:rPr lang="en-US" sz="1400" dirty="0">
                <a:solidFill>
                  <a:srgbClr val="FFFFFF"/>
                </a:solidFill>
              </a:rPr>
              <a:t>|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Video: [</a:t>
            </a:r>
            <a:r>
              <a:rPr lang="en-US" sz="1400" dirty="0">
                <a:solidFill>
                  <a:srgbClr val="FFFFFF"/>
                </a:solidFill>
                <a:hlinkClick r:id="rId4"/>
              </a:rPr>
              <a:t>https://www.loom.com/share/f8beea7a15a94da2a611ad4199c6ee94</a:t>
            </a:r>
            <a:r>
              <a:rPr lang="en-US" sz="1400" dirty="0">
                <a:solidFill>
                  <a:srgbClr val="FFFFFF"/>
                </a:solidFill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E22F-35E5-D0A6-6865-3A4E7ED65F01}"/>
              </a:ext>
            </a:extLst>
          </p:cNvPr>
          <p:cNvSpPr txBox="1"/>
          <p:nvPr/>
        </p:nvSpPr>
        <p:spPr>
          <a:xfrm>
            <a:off x="508000" y="5651500"/>
            <a:ext cx="1117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 b="1" dirty="0">
                <a:solidFill>
                  <a:srgbClr val="203864"/>
                </a:solidFill>
              </a:rPr>
              <a:t>Thank you! Questions welcome during the walkthrough.</a:t>
            </a:r>
          </a:p>
        </p:txBody>
      </p:sp>
    </p:spTree>
    <p:extLst>
      <p:ext uri="{BB962C8B-B14F-4D97-AF65-F5344CB8AC3E}">
        <p14:creationId xmlns:p14="http://schemas.microsoft.com/office/powerpoint/2010/main" val="40623252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593</Words>
  <Application>Microsoft Office PowerPoint</Application>
  <PresentationFormat>Widescreen</PresentationFormat>
  <Paragraphs>102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Consolas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vds prasanth</dc:creator>
  <cp:lastModifiedBy>vds prasanth</cp:lastModifiedBy>
  <cp:revision>2</cp:revision>
  <dcterms:created xsi:type="dcterms:W3CDTF">2025-12-29T04:33:19Z</dcterms:created>
  <dcterms:modified xsi:type="dcterms:W3CDTF">2025-12-29T05:18:01Z</dcterms:modified>
</cp:coreProperties>
</file>